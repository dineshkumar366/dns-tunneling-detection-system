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7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0" r:id="rId22"/>
    <p:sldId id="258" r:id="rId23"/>
    <p:sldId id="282" r:id="rId24"/>
    <p:sldId id="281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53617-5F59-4104-9DD8-529F89968566}" v="1110" dt="2026-09-14T19:23:28.346"/>
    <p1510:client id="{4504FBBE-8AAF-474D-B496-9B764C1D073A}" v="2" dt="2026-09-15T05:24:45.952"/>
    <p1510:client id="{80E9FCEE-E211-4204-AC04-340167CC7513}" v="66" dt="2026-09-14T16:36:23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E2649-C38D-74F7-4E21-2839CCD34A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>
                <a:solidFill>
                  <a:srgbClr val="FFFFFF"/>
                </a:solidFill>
                <a:latin typeface="Tw Cen MT"/>
                <a:ea typeface="+mj-lt"/>
                <a:cs typeface="+mj-lt"/>
              </a:rPr>
              <a:t>DNS TUNNLING DETECTION</a:t>
            </a:r>
            <a:br>
              <a:rPr lang="en-US">
                <a:solidFill>
                  <a:srgbClr val="FFFFFF"/>
                </a:solidFill>
                <a:latin typeface="Tw Cen MT"/>
                <a:ea typeface="+mj-lt"/>
                <a:cs typeface="+mj-lt"/>
              </a:rPr>
            </a:br>
            <a:r>
              <a:rPr lang="en-US">
                <a:solidFill>
                  <a:srgbClr val="FFFFFF"/>
                </a:solidFill>
                <a:latin typeface="Tw Cen MT"/>
                <a:ea typeface="+mj-lt"/>
                <a:cs typeface="+mj-lt"/>
              </a:rPr>
              <a:t>SYSTEM</a:t>
            </a:r>
            <a:endParaRPr lang="en-US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2038" y="5180196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i="1" dirty="0">
                <a:solidFill>
                  <a:srgbClr val="FFFFFF"/>
                </a:solidFill>
                <a:latin typeface="Tw Cen MT"/>
              </a:rPr>
              <a:t>Presented by</a:t>
            </a:r>
          </a:p>
          <a:p>
            <a:r>
              <a:rPr lang="en-US" sz="1800" b="1" i="1" dirty="0">
                <a:latin typeface="Tw Cen MT"/>
              </a:rPr>
              <a:t>Dinesh </a:t>
            </a:r>
            <a:r>
              <a:rPr lang="en-US" sz="1800" b="1" i="1">
                <a:latin typeface="Tw Cen MT"/>
              </a:rPr>
              <a:t>kumar</a:t>
            </a:r>
            <a:r>
              <a:rPr lang="en-US" sz="1800" b="1" i="1" dirty="0">
                <a:latin typeface="Tw Cen MT"/>
              </a:rPr>
              <a:t> T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CFC22-2E95-6163-050B-1B24DDF36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68CCD4-1798-42A3-B189-6E9FCE093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D0229-C2B6-46EC-1F66-61DFE8CB00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E49168-BF00-A508-80DA-758BE1DF4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88188" y="461003"/>
            <a:ext cx="3594339" cy="60014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F186-BBAA-C125-20E9-959D55279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5774" y="1068274"/>
            <a:ext cx="9546566" cy="397386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Abstract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Problem Statement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Proposed Solution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Objectives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Technologies Used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Detection Logic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Wireshark Analysis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Splunk Monitoring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Live Demo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Results &amp; Analysis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2000"/>
          </a:p>
          <a:p>
            <a:pPr marL="285750" indent="-285750" algn="l">
              <a:lnSpc>
                <a:spcPct val="120000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Conclusion</a:t>
            </a:r>
            <a:endParaRPr lang="en-US" sz="2000"/>
          </a:p>
          <a:p>
            <a:pPr algn="l">
              <a:lnSpc>
                <a:spcPct val="120000"/>
              </a:lnSpc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780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9FCDB-B895-D4B4-456E-B82FC9B3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836C3C-B6D6-B578-9051-CA0097E1B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0A8DA-8FAC-0A6C-DCD6-96DC7DA580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456183E-AC5D-C337-EC8E-1C6B149EF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868" y="1715253"/>
            <a:ext cx="9704716" cy="387322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 algn="l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Dns tunneling detection system is a cybersecurity project used to find suspicious </a:t>
            </a: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dns</a:t>
            </a: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 traffic.</a:t>
            </a:r>
            <a:endParaRPr lang="en-US" sz="2000" b="1"/>
          </a:p>
          <a:p>
            <a:pPr marL="342900" indent="-342900" algn="l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 In this project, wireshark is used to capture dns packets, and python is used to </a:t>
            </a: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analyse</a:t>
            </a: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 them.</a:t>
            </a:r>
          </a:p>
          <a:p>
            <a:pPr marL="342900" indent="-342900" algn="l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Suspicious </a:t>
            </a: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dns</a:t>
            </a: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 queries are detected based on their length, pattern, and frequency.</a:t>
            </a:r>
          </a:p>
          <a:p>
            <a:pPr marL="342900" indent="-342900" algn="l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The detected activities are sent to splunk for monitoring and alerts.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 This helps to identify possible dns tunneling attacks and improve network security.</a:t>
            </a:r>
            <a:endParaRPr lang="en-US" sz="2000" b="1"/>
          </a:p>
          <a:p>
            <a:pPr algn="l">
              <a:lnSpc>
                <a:spcPct val="150000"/>
              </a:lnSpc>
            </a:pPr>
            <a:endParaRPr lang="en-US" sz="2000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1621B-7788-16E0-537A-FF30F2B19881}"/>
              </a:ext>
            </a:extLst>
          </p:cNvPr>
          <p:cNvSpPr txBox="1"/>
          <p:nvPr/>
        </p:nvSpPr>
        <p:spPr>
          <a:xfrm>
            <a:off x="977660" y="352245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Tw Cen MT"/>
              </a:rPr>
              <a:t>ABSTRACT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71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9FED1-9A92-7016-549D-76A4D305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6E81AD6-78DB-1F8E-5511-E1D49AEBD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24E11-482D-1216-870E-2410D3A605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671F3-695D-BA43-96C4-26CF245A6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99094" y="1294890"/>
            <a:ext cx="9144000" cy="82557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endParaRPr lang="en-US" sz="3200" dirty="0">
              <a:latin typeface="Tw Cen MT"/>
            </a:endParaRPr>
          </a:p>
          <a:p>
            <a:r>
              <a:rPr lang="en-US" sz="3200" b="1" dirty="0">
                <a:solidFill>
                  <a:srgbClr val="FFFFFF"/>
                </a:solidFill>
                <a:latin typeface="Tw Cen MT"/>
                <a:ea typeface="+mj-lt"/>
                <a:cs typeface="+mj-lt"/>
              </a:rPr>
              <a:t>PROBLEM STATEMENT</a:t>
            </a:r>
            <a:endParaRPr lang="en-US" sz="3200">
              <a:latin typeface="Tw Cen MT"/>
              <a:ea typeface="+mn-lt"/>
              <a:cs typeface="+mn-lt"/>
            </a:endParaRPr>
          </a:p>
          <a:p>
            <a:pPr>
              <a:spcBef>
                <a:spcPts val="0"/>
              </a:spcBef>
            </a:pPr>
            <a:endParaRPr lang="en-US" sz="3200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0EE91-DBF7-583C-1CFD-DBBD9AD98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076" y="1039517"/>
            <a:ext cx="9632830" cy="33268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DNS is normally used for domain name resolution.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Attackers can misuse DNS to hide data or communicate secretly.  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Suspicious DNS traffic can be difficult to identify manually.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Long, random, and frequent DNS queries may indicate possible DNS tunneling.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Therefore, a system is needed to detect and monitor suspicious DNS </a:t>
            </a:r>
            <a:r>
              <a:rPr lang="en-US" b="1" dirty="0" err="1">
                <a:solidFill>
                  <a:srgbClr val="FFFFFF"/>
                </a:solidFill>
                <a:ea typeface="+mn-lt"/>
                <a:cs typeface="+mn-lt"/>
              </a:rPr>
              <a:t>behaviour</a:t>
            </a: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. </a:t>
            </a:r>
            <a:endParaRPr lang="en-US" b="1"/>
          </a:p>
          <a:p>
            <a:pPr algn="l"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249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5F347-7005-35F3-65E9-5F8F9AE2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E0D99B-F847-BC92-77AE-445D36325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B1ACE-4C80-52F0-4D32-EABD771A15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EE545-E2CD-2349-B327-A317A2B33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60361"/>
            <a:ext cx="5276491" cy="7151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latin typeface="Tw Cen MT"/>
                <a:ea typeface="+mj-lt"/>
                <a:cs typeface="+mj-lt"/>
              </a:rPr>
              <a:t>PROPOSED SOLUTION</a:t>
            </a:r>
            <a:endParaRPr lang="en-US" sz="3200">
              <a:latin typeface="Tw Cen M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AC7CE-8BF3-2A54-4712-512E593C0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511" y="1082648"/>
            <a:ext cx="10567359" cy="36719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Capture DNS traffic using Wireshark.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 err="1">
                <a:solidFill>
                  <a:srgbClr val="FFFFFF"/>
                </a:solidFill>
                <a:ea typeface="+mn-lt"/>
                <a:cs typeface="+mn-lt"/>
              </a:rPr>
              <a:t>Analyse</a:t>
            </a: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 DNS queries using Python.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Detect long, random, or frequent DNS queries.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Calculate a risk score for suspicious activity.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Send detected logs to Splunk.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Use Splunk for monitoring, dashboard, and alerts.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Help identify possible DNS tunneling activity in the network.</a:t>
            </a:r>
            <a:endParaRPr lang="en-US" b="1"/>
          </a:p>
          <a:p>
            <a:pPr algn="l"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257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E3701-33A4-4760-B620-303493F0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CD47E0-2E8F-2157-82F8-30BCD6BB0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C40BE7-1918-99A8-F85C-73F258ACAD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DFBCE7-A845-C66D-E725-81DD1F2ED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59811" y="777305"/>
            <a:ext cx="9144000" cy="58576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FFFF"/>
                </a:solidFill>
                <a:latin typeface="Tw Cen MT"/>
                <a:ea typeface="+mj-lt"/>
                <a:cs typeface="+mj-lt"/>
              </a:rPr>
              <a:t>OBJECTIVES</a:t>
            </a:r>
            <a:endParaRPr lang="en-US" sz="3200">
              <a:latin typeface="Tw Cen M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4D08B-DCF4-CE46-62D0-F91BCBDDA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95" y="1370198"/>
            <a:ext cx="7965056" cy="383009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To capture DNS traffic using Wireshark.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To </a:t>
            </a:r>
            <a:r>
              <a:rPr lang="en-US" b="1" dirty="0" err="1">
                <a:solidFill>
                  <a:srgbClr val="FFFFFF"/>
                </a:solidFill>
                <a:ea typeface="+mn-lt"/>
                <a:cs typeface="+mn-lt"/>
              </a:rPr>
              <a:t>analyse</a:t>
            </a: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 DNS queries using Python.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To identify suspicious DNS patterns.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To calculate a risk score for DNS queries.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To monitor detected activities using Splunk.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To generate alerts for suspicious DNS activity. </a:t>
            </a:r>
            <a:endParaRPr lang="en-US" b="1"/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To help detect possible DNS tunneling.</a:t>
            </a:r>
            <a:endParaRPr lang="en-US" b="1"/>
          </a:p>
          <a:p>
            <a:pPr algn="l">
              <a:lnSpc>
                <a:spcPct val="150000"/>
              </a:lnSpc>
            </a:pPr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15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E0C39-9CEB-1704-BDC2-792E14D4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D1BE5A-40D9-86DA-7C55-AF48D51C3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4DD8B8-550F-33FC-C98C-CA71AFD26B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DCD8C-42EB-A451-E343-E9267DE7C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55962" y="432249"/>
            <a:ext cx="9144000" cy="77266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FFFF"/>
                </a:solidFill>
                <a:latin typeface="Tw Cen MT"/>
                <a:ea typeface="+mj-lt"/>
                <a:cs typeface="+mj-lt"/>
              </a:rPr>
              <a:t>TECHNOLOGIES USED</a:t>
            </a:r>
            <a:endParaRPr lang="en-US" sz="3200">
              <a:latin typeface="Tw Cen M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C986D-162D-9760-0508-BEA253B1F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735" y="1212046"/>
            <a:ext cx="9474679" cy="360005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</a:rPr>
              <a:t>🐍 </a:t>
            </a:r>
            <a:r>
              <a:rPr lang="en-US" b="1" dirty="0">
                <a:solidFill>
                  <a:srgbClr val="FFFFFF"/>
                </a:solidFill>
              </a:rPr>
              <a:t>Python</a:t>
            </a:r>
            <a:r>
              <a:rPr lang="en-US" dirty="0">
                <a:solidFill>
                  <a:srgbClr val="FFFFFF"/>
                </a:solidFill>
              </a:rPr>
              <a:t> – DNS traffic analysis and detection </a:t>
            </a:r>
            <a:endParaRPr lang="en-US"/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</a:rPr>
              <a:t>🔬 </a:t>
            </a:r>
            <a:r>
              <a:rPr lang="en-US" b="1" dirty="0" err="1">
                <a:solidFill>
                  <a:srgbClr val="FFFFFF"/>
                </a:solidFill>
              </a:rPr>
              <a:t>Scapy</a:t>
            </a:r>
            <a:r>
              <a:rPr lang="en-US" dirty="0">
                <a:solidFill>
                  <a:srgbClr val="FFFFFF"/>
                </a:solidFill>
              </a:rPr>
              <a:t> – Capturing and processing DNS packets </a:t>
            </a: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</a:rPr>
              <a:t>🦈 </a:t>
            </a:r>
            <a:r>
              <a:rPr lang="en-US" b="1" dirty="0">
                <a:solidFill>
                  <a:srgbClr val="FFFFFF"/>
                </a:solidFill>
              </a:rPr>
              <a:t>Wireshark</a:t>
            </a:r>
            <a:r>
              <a:rPr lang="en-US" dirty="0">
                <a:solidFill>
                  <a:srgbClr val="FFFFFF"/>
                </a:solidFill>
              </a:rPr>
              <a:t> – DNS packet capture and analysis </a:t>
            </a: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</a:rPr>
              <a:t>📊 </a:t>
            </a:r>
            <a:r>
              <a:rPr lang="en-US" b="1" dirty="0">
                <a:solidFill>
                  <a:srgbClr val="FFFFFF"/>
                </a:solidFill>
              </a:rPr>
              <a:t>Splunk</a:t>
            </a:r>
            <a:r>
              <a:rPr lang="en-US" dirty="0">
                <a:solidFill>
                  <a:srgbClr val="FFFFFF"/>
                </a:solidFill>
              </a:rPr>
              <a:t> – Log monitoring, dashboard and alerts </a:t>
            </a: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</a:rPr>
              <a:t>💻 </a:t>
            </a:r>
            <a:r>
              <a:rPr lang="en-US" b="1" dirty="0">
                <a:solidFill>
                  <a:srgbClr val="FFFFFF"/>
                </a:solidFill>
              </a:rPr>
              <a:t>PowerShell</a:t>
            </a:r>
            <a:r>
              <a:rPr lang="en-US" dirty="0">
                <a:solidFill>
                  <a:srgbClr val="FFFFFF"/>
                </a:solidFill>
              </a:rPr>
              <a:t> – Desktop alert notification </a:t>
            </a: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</a:rPr>
              <a:t>🪟 </a:t>
            </a:r>
            <a:r>
              <a:rPr lang="en-US" b="1" dirty="0">
                <a:solidFill>
                  <a:srgbClr val="FFFFFF"/>
                </a:solidFill>
              </a:rPr>
              <a:t>Windows</a:t>
            </a:r>
            <a:r>
              <a:rPr lang="en-US" dirty="0">
                <a:solidFill>
                  <a:srgbClr val="FFFFFF"/>
                </a:solidFill>
              </a:rPr>
              <a:t> – Project environment</a:t>
            </a: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endParaRPr lang="en-US" dirty="0">
              <a:solidFill>
                <a:srgbClr val="FFFFFF"/>
              </a:solidFill>
            </a:endParaRPr>
          </a:p>
          <a:p>
            <a:pPr marL="457200" indent="-457200" algn="just">
              <a:lnSpc>
                <a:spcPct val="200000"/>
              </a:lnSpc>
              <a:buFont typeface="Courier New" panose="020B0604020202020204" pitchFamily="34" charset="0"/>
              <a:buChar char="o"/>
            </a:pP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61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09916-2DDE-21D4-C608-4FCE9C1A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8901A0-D857-EC4A-0249-3F188679C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E5284-2119-957C-9908-DA71769107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877364-7C6F-905D-A766-8281F231D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98453" y="547268"/>
            <a:ext cx="9144000" cy="61451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FFFF"/>
                </a:solidFill>
                <a:latin typeface="Tw Cen MT"/>
                <a:ea typeface="+mj-lt"/>
                <a:cs typeface="+mj-lt"/>
              </a:rPr>
              <a:t>DETECTION LOGIC</a:t>
            </a:r>
            <a:endParaRPr lang="en-US" sz="3200">
              <a:latin typeface="Tw Cen M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A2674-EC44-02A9-8CDD-87A59C44F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284" y="1355820"/>
            <a:ext cx="9704716" cy="424703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Risk Score = Length Score + Entropy Score + Digit Ratio Score + Frequency Score</a:t>
            </a:r>
            <a:endParaRPr lang="en-US">
              <a:solidFill>
                <a:srgbClr val="FFFFFF"/>
              </a:solidFill>
              <a:ea typeface="+mn-lt"/>
              <a:cs typeface="+mn-lt"/>
            </a:endParaRPr>
          </a:p>
          <a:p>
            <a:pPr algn="l"/>
            <a:endParaRPr lang="en-US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/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Risk Score Calculation: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Query Length ≥ 15 → +25 </a:t>
            </a:r>
            <a:endParaRPr lang="en-US" b="1"/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Query Length ≥ 25 → +10 </a:t>
            </a:r>
            <a:endParaRPr lang="en-US" b="1"/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Entropy ≥ 3.2 → +25 </a:t>
            </a:r>
            <a:endParaRPr lang="en-US" b="1"/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Digit Ratio ≥ 0.25 → +15 </a:t>
            </a:r>
            <a:endParaRPr lang="en-US" b="1"/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Query Frequency ≥ 10 → +25 </a:t>
            </a:r>
            <a:endParaRPr lang="en-US" b="1"/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Query Frequency ≥ 5 → +10</a:t>
            </a:r>
            <a:endParaRPr lang="en-US" b="1"/>
          </a:p>
          <a:p>
            <a:pPr marL="285750" indent="-285750" algn="l">
              <a:buFont typeface="Arial"/>
              <a:buChar char="•"/>
            </a:pPr>
            <a:endParaRPr lang="en-US" b="1" dirty="0">
              <a:solidFill>
                <a:srgbClr val="FFFFFF"/>
              </a:solidFill>
            </a:endParaRPr>
          </a:p>
          <a:p>
            <a:pPr algn="l"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Risk Score ≥ 50 → POSSIBLE SUSPICIOUS DNS</a:t>
            </a:r>
            <a:endParaRPr lang="en-US" b="1" dirty="0">
              <a:solidFill>
                <a:srgbClr val="FFFFFF"/>
              </a:solidFill>
            </a:endParaRPr>
          </a:p>
          <a:p>
            <a:pPr algn="l"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Risk Score &lt; 50 → NORMAL / LOW RISK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endParaRPr lang="en-US" b="1" dirty="0">
              <a:solidFill>
                <a:srgbClr val="FFFFFF"/>
              </a:solidFill>
            </a:endParaRPr>
          </a:p>
          <a:p>
            <a:pPr algn="l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82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BD514-EABA-F18F-5653-8C61A051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B3F34A-6DD7-2607-2DD0-40158DAE9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176DA2-D8F7-DEBF-1E13-4DAC2DB647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218E3C-BC0D-42B2-C98D-63C2E5E9D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360361"/>
            <a:ext cx="5362756" cy="81580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WIRESHARK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C6022-3FAF-0AC3-C1FE-FF54B13F6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81EF5-C91B-407F-6004-BFD1E4C54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380124"/>
            <a:ext cx="10824562" cy="51329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69402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9A9C3-5269-EAA5-790C-20C5E13F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52BC33-5A10-6CAD-A658-17330124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370FA-9D24-CE8C-A587-117D2B29C4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CF95F9-93EA-B75F-7094-CA43951A3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170" y="929"/>
            <a:ext cx="4241321" cy="18365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WIRESHARK ANALYSIS</a:t>
            </a:r>
            <a:endParaRPr lang="en-US" sz="3200" dirty="0">
              <a:solidFill>
                <a:srgbClr val="000000"/>
              </a:solidFill>
              <a:latin typeface="Tw Cen MT"/>
              <a:ea typeface="Verdana"/>
              <a:cs typeface="Vrinda"/>
            </a:endParaRPr>
          </a:p>
          <a:p>
            <a:pPr>
              <a:spcBef>
                <a:spcPts val="0"/>
              </a:spcBef>
            </a:pPr>
            <a:endParaRPr lang="en-US" b="1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E0AFA-5468-6980-CDC5-E8CED3280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F10D4-AAD6-D218-861F-EC63C6CD6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071563"/>
            <a:ext cx="102489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1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690A3-D322-E536-A026-0B8427CA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BB50BB-4506-171E-8F5F-7ED42001C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43CE4-56C1-FD84-D7E0-C340464E52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271433-255D-68DF-0959-35909E383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943" y="216588"/>
            <a:ext cx="4169434" cy="149153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w Cen MT"/>
                <a:ea typeface="+mj-lt"/>
                <a:cs typeface="+mj-lt"/>
              </a:rPr>
              <a:t>WIRESHARK ANALYSIS</a:t>
            </a:r>
            <a:endParaRPr lang="en-US" sz="3200" dirty="0">
              <a:solidFill>
                <a:srgbClr val="000000"/>
              </a:solidFill>
              <a:latin typeface="Tw Cen MT"/>
              <a:ea typeface="+mj-lt"/>
              <a:cs typeface="+mj-lt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21CE6-7CAA-EE41-EBB2-3D28EFED2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27B7EE-36ED-F270-EEB5-5FEEB78ED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066800"/>
            <a:ext cx="101346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80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648DD-BE18-9861-0299-56ED4362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455C31-8F54-D32C-9FF4-DA7D80DA5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DC11D-AB5D-16F0-7AD8-68D3C552FF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15020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E9FD12-0F0F-813B-8DAE-DA0365006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39661" y="705418"/>
            <a:ext cx="9144000" cy="20235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latin typeface="Tw Cen MT"/>
              </a:rPr>
              <a:t>WIRESHARK ANALYSIS</a:t>
            </a:r>
          </a:p>
          <a:p>
            <a:pPr>
              <a:spcBef>
                <a:spcPts val="0"/>
              </a:spcBef>
            </a:pPr>
            <a:endParaRPr lang="en-US" dirty="0">
              <a:latin typeface="Tw Cen MT"/>
            </a:endParaRP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80B6E-C576-C63D-A720-03413A91C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88AFD-DE01-B6F6-0F43-3AAAE2BB3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1124669"/>
            <a:ext cx="102298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48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6DB05-0726-05B1-8F60-3F299B858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12784B-E3DC-B211-031A-718597139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A466A-7AE7-02E6-4CD9-2118EB5CE9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87AB20-E92B-93E6-69B4-2BA607E8A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717" y="159079"/>
            <a:ext cx="4241321" cy="26848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WIRESHARK ANALYSIS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35BE6-B812-9C16-785F-9AED7BAD6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717" y="1370196"/>
            <a:ext cx="9144000" cy="10983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DNS packets captured using Wireshark </a:t>
            </a:r>
            <a:endParaRPr lang="en-US" b="1"/>
          </a:p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DNS query names </a:t>
            </a:r>
            <a:r>
              <a:rPr lang="en-US" b="1" dirty="0" err="1">
                <a:solidFill>
                  <a:srgbClr val="FFFFFF"/>
                </a:solidFill>
                <a:ea typeface="+mn-lt"/>
                <a:cs typeface="+mn-lt"/>
              </a:rPr>
              <a:t>analysed</a:t>
            </a: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b="1"/>
          </a:p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Long/random queries identified </a:t>
            </a:r>
            <a:endParaRPr lang="en-US" b="1"/>
          </a:p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Query frequency and packet details observed</a:t>
            </a:r>
            <a:endParaRPr lang="en-US" b="1"/>
          </a:p>
          <a:p>
            <a:pPr algn="l">
              <a:lnSpc>
                <a:spcPct val="200000"/>
              </a:lnSpc>
            </a:pPr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62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32C3-CF7E-642C-26B3-4D7DB62B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5619FB-3DAB-F6F7-907C-E13349F4C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FBB2D-FB95-BAF8-538D-4B83FEA944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74903A-E0BB-6420-6C20-7B435A322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97170" y="-1422431"/>
            <a:ext cx="9144000" cy="244044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FFFF"/>
                </a:solidFill>
                <a:latin typeface="Tw Cen MT"/>
                <a:ea typeface="+mj-lt"/>
                <a:cs typeface="+mj-lt"/>
              </a:rPr>
              <a:t>SPLUNK MONITORING</a:t>
            </a:r>
            <a:endParaRPr lang="en-US" sz="3200">
              <a:latin typeface="Tw Cen M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74AAB-F675-C5A1-7F6B-914F1F69F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7064A-3C2B-5066-AA22-5ADD370B1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91" y="1185339"/>
            <a:ext cx="10524227" cy="493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014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5D4D3-CEC7-73E8-8549-CE6E3A87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95DF0D-511F-2228-4B80-BD13D5018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38C8C-8A9D-B3D5-8925-84052E3592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3D3DB6-3330-763B-6F02-36EAF0561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8513"/>
            <a:ext cx="5118340" cy="13908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SPLUNK MONITORING</a:t>
            </a:r>
            <a:endParaRPr lang="en-US" sz="3200" dirty="0">
              <a:solidFill>
                <a:srgbClr val="000000"/>
              </a:solidFill>
              <a:latin typeface="Tw Cen MT"/>
              <a:ea typeface="Verdana"/>
              <a:cs typeface="Vrinda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99576-DA85-0089-47A2-7408CB408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21751B-D583-DD0A-0456-EEBE0BF61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44" y="1211702"/>
            <a:ext cx="10969925" cy="509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94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59388B-9C8D-E2A7-0433-C71A08AC0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2B9FE9-9E98-A96A-09D3-7274F9D24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C38F57-0D0A-8EF2-70BF-911C6998E6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C558EA-8C80-989E-BB61-48D8D4BB1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925" y="230966"/>
            <a:ext cx="4356340" cy="16640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SPLUNK MONITORING</a:t>
            </a:r>
            <a:endParaRPr lang="en-US" sz="3200" dirty="0">
              <a:solidFill>
                <a:srgbClr val="000000"/>
              </a:solidFill>
              <a:latin typeface="Tw Cen MT"/>
              <a:ea typeface="Verdana"/>
              <a:cs typeface="Vrinda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0738D-02A7-D4B9-B976-55FD82E05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0807A-5DEF-1AB9-17C9-DB61C360B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17" y="1332122"/>
            <a:ext cx="10696755" cy="489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44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71458-62D5-1B94-E43A-1A8A4F25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73E0E59-2A25-741A-5E7F-179FFD774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D4023-10C3-E991-7746-28AC756DDD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F7AFF9-3D85-83F3-B784-80B186B2A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95885" y="317230"/>
            <a:ext cx="8252602" cy="15202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SPLUNK MONITORING</a:t>
            </a:r>
            <a:endParaRPr lang="en-US" sz="3200" dirty="0">
              <a:solidFill>
                <a:srgbClr val="000000"/>
              </a:solidFill>
              <a:latin typeface="Tw Cen MT"/>
              <a:ea typeface="Verdana"/>
              <a:cs typeface="Vrinda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F03AF-5BA0-86A3-CB09-0B056CE02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16348-1350-5C76-BB37-A2FF31F95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96" y="1073558"/>
            <a:ext cx="10021019" cy="514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5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C2D01-83A2-8216-0E79-E62CE6B2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74A00A-E80F-5D92-70BB-E3735C69C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7A2AA-BA15-746E-30BA-170B4029E4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16BE50-8878-31B8-FA94-CFA6F6D85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4453" y="806060"/>
            <a:ext cx="5679057" cy="10745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SPLUNK MONITORING</a:t>
            </a:r>
            <a:endParaRPr lang="en-US" sz="3200" dirty="0">
              <a:solidFill>
                <a:srgbClr val="000000"/>
              </a:solidFill>
              <a:latin typeface="Tw Cen MT"/>
              <a:ea typeface="Verdana"/>
              <a:cs typeface="Vrinda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4ABEF-8F3C-5FE7-254D-B2646523B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F3E83-15E1-3840-F6C4-D4D86EB71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39" y="1199556"/>
            <a:ext cx="10567359" cy="483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67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079CB-5AA2-C44F-E0B6-5C319035B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7642848-25A5-0078-730E-514BBCB22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A50E1-3E8D-7AD2-D2D0-1216521B30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A318BF-E84E-EDD2-A5B9-E39BE8CC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92039" y="928"/>
            <a:ext cx="5377133" cy="9308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LIVE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AA4F2-A469-3736-0709-8684EA5EA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717" y="1097028"/>
            <a:ext cx="11070566" cy="466397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l">
              <a:lnSpc>
                <a:spcPct val="160000"/>
              </a:lnSpc>
              <a:buFont typeface=""/>
              <a:buAutoNum type="arabicPeriod"/>
            </a:pPr>
            <a:r>
              <a:rPr lang="en-US" b="1" dirty="0"/>
              <a:t>Start Python DNS Monitor </a:t>
            </a:r>
            <a:endParaRPr lang="en-US"/>
          </a:p>
          <a:p>
            <a:pPr algn="l">
              <a:lnSpc>
                <a:spcPct val="160000"/>
              </a:lnSpc>
              <a:buFont typeface=""/>
              <a:buAutoNum type="arabicPeriod"/>
            </a:pPr>
            <a:r>
              <a:rPr lang="en-US" b="1" dirty="0"/>
              <a:t>Capture DNS Traffic using Wireshark </a:t>
            </a:r>
          </a:p>
          <a:p>
            <a:pPr algn="l">
              <a:lnSpc>
                <a:spcPct val="160000"/>
              </a:lnSpc>
              <a:buFont typeface=""/>
              <a:buAutoNum type="arabicPeriod"/>
            </a:pPr>
            <a:r>
              <a:rPr lang="en-US" b="1" dirty="0"/>
              <a:t>Generate 30 Synthetic DNS Queries </a:t>
            </a:r>
          </a:p>
          <a:p>
            <a:pPr algn="l">
              <a:lnSpc>
                <a:spcPct val="160000"/>
              </a:lnSpc>
              <a:buFont typeface=""/>
              <a:buAutoNum type="arabicPeriod"/>
            </a:pPr>
            <a:r>
              <a:rPr lang="en-US" b="1" dirty="0"/>
              <a:t>Python detects Suspicious DNS Activity </a:t>
            </a:r>
          </a:p>
          <a:p>
            <a:pPr algn="l">
              <a:lnSpc>
                <a:spcPct val="160000"/>
              </a:lnSpc>
              <a:buFont typeface=""/>
              <a:buAutoNum type="arabicPeriod"/>
            </a:pPr>
            <a:r>
              <a:rPr lang="en-US" b="1" dirty="0"/>
              <a:t>Windows Notification is displayed </a:t>
            </a:r>
          </a:p>
          <a:p>
            <a:pPr algn="l">
              <a:lnSpc>
                <a:spcPct val="160000"/>
              </a:lnSpc>
              <a:buFont typeface=""/>
              <a:buAutoNum type="arabicPeriod"/>
            </a:pPr>
            <a:r>
              <a:rPr lang="en-US" b="1" dirty="0"/>
              <a:t>Suspicious logs are sent to Splunk </a:t>
            </a:r>
          </a:p>
          <a:p>
            <a:pPr algn="l">
              <a:lnSpc>
                <a:spcPct val="160000"/>
              </a:lnSpc>
              <a:buFont typeface=""/>
              <a:buAutoNum type="arabicPeriod"/>
            </a:pPr>
            <a:r>
              <a:rPr lang="en-US" b="1" dirty="0"/>
              <a:t>Splunk Alert &amp; Dashboard shows the activity </a:t>
            </a:r>
          </a:p>
          <a:p>
            <a:pPr algn="l">
              <a:lnSpc>
                <a:spcPct val="160000"/>
              </a:lnSpc>
            </a:pPr>
            <a:r>
              <a:rPr lang="en-US" b="1" dirty="0"/>
              <a:t>🔄 Demo Flow</a:t>
            </a:r>
          </a:p>
          <a:p>
            <a:pPr algn="l">
              <a:lnSpc>
                <a:spcPct val="160000"/>
              </a:lnSpc>
            </a:pPr>
            <a:r>
              <a:rPr lang="en-US" b="1" dirty="0"/>
              <a:t>CMD → DNS Traffic → Wireshark → Python Detection → Windows Notification → Splunk Alert</a:t>
            </a:r>
            <a:endParaRPr 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740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F7EEA-7F5F-3C17-82EF-EA7583CD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F255BC-314F-856A-8DE5-094E3C9B8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967B5C-084D-9442-8E27-DD348629DA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D46D5E-4F7E-778F-F49E-9E1C7A40F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91397" y="927"/>
            <a:ext cx="5420265" cy="87331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LIVE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9E5AA-8939-0BCB-F87D-F47D7FF3C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9B08C-27FE-E4D5-CD8F-DFE57D588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62" y="1291483"/>
            <a:ext cx="10696755" cy="46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282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742CC-38C3-19A6-C4B6-F37D90CF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01A5CF-01DB-9A28-AB1D-0E9B9BC8E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8A682A-66A7-1801-6865-BA1D841228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F94385-0E5D-ECC4-B96B-79C891226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75380"/>
            <a:ext cx="3105511" cy="12327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w Cen MT"/>
                <a:ea typeface="Verdana"/>
                <a:cs typeface="Vrinda"/>
              </a:rPr>
              <a:t>LIVE DEMO</a:t>
            </a:r>
            <a:endParaRPr lang="en-US" sz="3200" dirty="0">
              <a:solidFill>
                <a:srgbClr val="000000"/>
              </a:solidFill>
              <a:latin typeface="Tw Cen MT"/>
              <a:ea typeface="Verdana"/>
              <a:cs typeface="Vrinda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rgbClr val="FFFFFF"/>
              </a:solidFill>
              <a:latin typeface="Tw Cen MT"/>
              <a:ea typeface="Verdana"/>
              <a:cs typeface="Vrind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8EA41-34B4-2C12-328A-793D50FFE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0C4FE-8654-F6DB-E641-B1AAE046A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76" y="1090104"/>
            <a:ext cx="10639245" cy="51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67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1547-91B7-7F76-5369-83835ECA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F1696B-FA09-FEAF-FF37-91C968AEA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7736" y="1682499"/>
            <a:ext cx="8180716" cy="4019363"/>
          </a:xfrm>
          <a:prstGeom prst="rect">
            <a:avLst/>
          </a:prstGeom>
        </p:spPr>
      </p:pic>
      <p:pic>
        <p:nvPicPr>
          <p:cNvPr id="5" name="Picture 4" descr="A blue background with dots and lines&#10;&#10;AI-generated content may be incorrect.">
            <a:extLst>
              <a:ext uri="{FF2B5EF4-FFF2-40B4-BE49-F238E27FC236}">
                <a16:creationId xmlns:a16="http://schemas.microsoft.com/office/drawing/2014/main" id="{94FE617E-10C2-9CDF-B1C5-8439390D63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D326B2-452E-872D-7145-4BFADEAFA274}"/>
              </a:ext>
            </a:extLst>
          </p:cNvPr>
          <p:cNvSpPr txBox="1"/>
          <p:nvPr/>
        </p:nvSpPr>
        <p:spPr>
          <a:xfrm>
            <a:off x="359434" y="366622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none" strike="noStrike" baseline="0">
                <a:solidFill>
                  <a:srgbClr val="FFFFFF"/>
                </a:solidFill>
                <a:latin typeface="Tw Cen MT"/>
              </a:rPr>
              <a:t>LIVE DEMO</a:t>
            </a:r>
            <a:r>
              <a:rPr sz="3200" b="0" i="0">
                <a:solidFill>
                  <a:srgbClr val="000000"/>
                </a:solidFill>
                <a:latin typeface="Tw Cen MT"/>
                <a:ea typeface="Tw Cen MT"/>
                <a:cs typeface="Tw Cen MT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83D87-F6B9-1A9B-94A4-020B8EA58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47" y="1029149"/>
            <a:ext cx="11261247" cy="548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12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7B84-52D1-3100-8D70-6C3F1E0C3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3022-A0D6-3DEF-BDBA-81BCF253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BA6718-44E0-5905-92FB-C1FA47C81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151" y="1700197"/>
            <a:ext cx="7461849" cy="3523894"/>
          </a:xfrm>
          <a:prstGeom prst="rect">
            <a:avLst/>
          </a:prstGeom>
        </p:spPr>
      </p:pic>
      <p:pic>
        <p:nvPicPr>
          <p:cNvPr id="5" name="Picture 4" descr="A blue background with dots and lines&#10;&#10;AI-generated content may be incorrect.">
            <a:extLst>
              <a:ext uri="{FF2B5EF4-FFF2-40B4-BE49-F238E27FC236}">
                <a16:creationId xmlns:a16="http://schemas.microsoft.com/office/drawing/2014/main" id="{F3677B57-1C2D-C032-A91F-07B8056110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BBDB80-9D86-7329-D256-CE7E958EA626}"/>
              </a:ext>
            </a:extLst>
          </p:cNvPr>
          <p:cNvSpPr txBox="1"/>
          <p:nvPr/>
        </p:nvSpPr>
        <p:spPr>
          <a:xfrm>
            <a:off x="359434" y="366622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none" strike="noStrike" baseline="0">
                <a:solidFill>
                  <a:srgbClr val="FFFFFF"/>
                </a:solidFill>
                <a:latin typeface="Tw Cen MT"/>
              </a:rPr>
              <a:t>LIVE DEMO</a:t>
            </a:r>
            <a:r>
              <a:rPr sz="3200" b="0" i="0">
                <a:solidFill>
                  <a:srgbClr val="000000"/>
                </a:solidFill>
                <a:latin typeface="Tw Cen MT"/>
                <a:ea typeface="Tw Cen MT"/>
                <a:cs typeface="Tw Cen MT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F5EDB7-B2E3-B097-A3D3-8E7A73761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2" y="1227822"/>
            <a:ext cx="10883660" cy="484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758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744A-28BF-AC02-731A-BE8BC4439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8AB4-7446-A416-D953-04A102E8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9E4D-7770-16FB-37FD-248B72BBB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blue background with dots and lines&#10;&#10;AI-generated content may be incorrect.">
            <a:extLst>
              <a:ext uri="{FF2B5EF4-FFF2-40B4-BE49-F238E27FC236}">
                <a16:creationId xmlns:a16="http://schemas.microsoft.com/office/drawing/2014/main" id="{AB658972-EB93-03E5-6D23-8D8E623607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21" b="22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744B69-B410-B6E5-BDA3-F972EEFC0400}"/>
              </a:ext>
            </a:extLst>
          </p:cNvPr>
          <p:cNvSpPr txBox="1"/>
          <p:nvPr/>
        </p:nvSpPr>
        <p:spPr>
          <a:xfrm>
            <a:off x="1006415" y="1027981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w Cen MT"/>
              </a:rPr>
              <a:t>RESULT &amp; ANALYSIS</a:t>
            </a:r>
            <a:endParaRPr lang="en-US" sz="3200">
              <a:solidFill>
                <a:schemeClr val="bg1"/>
              </a:solidFill>
              <a:latin typeface="Tw Cen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36694-C293-8147-F0F6-DA5142952906}"/>
              </a:ext>
            </a:extLst>
          </p:cNvPr>
          <p:cNvSpPr txBox="1"/>
          <p:nvPr/>
        </p:nvSpPr>
        <p:spPr>
          <a:xfrm>
            <a:off x="833887" y="1718094"/>
            <a:ext cx="9316527" cy="50037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Dns traffic was successfully captured using wireshark.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Python successfully </a:t>
            </a:r>
            <a:r>
              <a:rPr lang="en-US" b="1" dirty="0" err="1">
                <a:solidFill>
                  <a:schemeClr val="bg1"/>
                </a:solidFill>
              </a:rPr>
              <a:t>analysed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dns</a:t>
            </a:r>
            <a:r>
              <a:rPr lang="en-US" b="1" dirty="0">
                <a:solidFill>
                  <a:schemeClr val="bg1"/>
                </a:solidFill>
              </a:rPr>
              <a:t> queries.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Long, random and frequent queries were identified as suspicious.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A risk score was calculated for each dns query.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Suspicious activity generated a windows notification.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Detected events were successfully sent to splunk.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Splunk displayed the events and triggered security alerts.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system successfully identified possible </a:t>
            </a:r>
            <a:r>
              <a:rPr lang="en-US" b="1" dirty="0" err="1">
                <a:solidFill>
                  <a:schemeClr val="bg1"/>
                </a:solidFill>
              </a:rPr>
              <a:t>dns</a:t>
            </a:r>
            <a:r>
              <a:rPr lang="en-US" b="1" dirty="0">
                <a:solidFill>
                  <a:schemeClr val="bg1"/>
                </a:solidFill>
              </a:rPr>
              <a:t> tunneling </a:t>
            </a:r>
            <a:r>
              <a:rPr lang="en-US" b="1" dirty="0" err="1">
                <a:solidFill>
                  <a:schemeClr val="bg1"/>
                </a:solidFill>
              </a:rPr>
              <a:t>behaviour</a:t>
            </a:r>
            <a:r>
              <a:rPr lang="en-US" b="1" dirty="0">
                <a:solidFill>
                  <a:schemeClr val="bg1"/>
                </a:solidFill>
              </a:rPr>
              <a:t> in the test traffic</a:t>
            </a:r>
          </a:p>
          <a:p>
            <a:pPr>
              <a:lnSpc>
                <a:spcPct val="200000"/>
              </a:lnSpc>
            </a:pP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323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12F47-6F71-A7C4-B9AC-8548D1A6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E285-9568-AD9D-0059-27792E46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7D1AE-3368-98A6-128A-D53516952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blue background with dots and lines&#10;&#10;AI-generated content may be incorrect.">
            <a:extLst>
              <a:ext uri="{FF2B5EF4-FFF2-40B4-BE49-F238E27FC236}">
                <a16:creationId xmlns:a16="http://schemas.microsoft.com/office/drawing/2014/main" id="{2EB47835-151F-D776-DEB8-708B39CFAB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5" t="13451" r="-825" b="2124"/>
          <a:stretch>
            <a:fillRect/>
          </a:stretch>
        </p:blipFill>
        <p:spPr>
          <a:xfrm>
            <a:off x="316322" y="129397"/>
            <a:ext cx="12191992" cy="6870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FA2218-7A38-AB05-9FF3-9A3F8E2678F2}"/>
              </a:ext>
            </a:extLst>
          </p:cNvPr>
          <p:cNvSpPr txBox="1"/>
          <p:nvPr/>
        </p:nvSpPr>
        <p:spPr>
          <a:xfrm>
            <a:off x="963283" y="740433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w Cen MT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EA56EE-10A7-09CC-C838-6838D3865FE9}"/>
              </a:ext>
            </a:extLst>
          </p:cNvPr>
          <p:cNvSpPr txBox="1"/>
          <p:nvPr/>
        </p:nvSpPr>
        <p:spPr>
          <a:xfrm>
            <a:off x="1236453" y="1703716"/>
            <a:ext cx="9244641" cy="50037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DNS Tunneling Detection System successfully detects suspicious DNS </a:t>
            </a:r>
            <a:r>
              <a:rPr lang="en-US" b="1" dirty="0" err="1">
                <a:solidFill>
                  <a:schemeClr val="bg1"/>
                </a:solidFill>
              </a:rPr>
              <a:t>behaviour</a:t>
            </a:r>
            <a:r>
              <a:rPr lang="en-US" b="1" dirty="0">
                <a:solidFill>
                  <a:schemeClr val="bg1"/>
                </a:solidFill>
              </a:rPr>
              <a:t>. </a:t>
            </a:r>
            <a:endParaRPr lang="en-US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Wireshark helps capture and </a:t>
            </a:r>
            <a:r>
              <a:rPr lang="en-US" b="1" dirty="0" err="1">
                <a:solidFill>
                  <a:schemeClr val="bg1"/>
                </a:solidFill>
              </a:rPr>
              <a:t>analyse</a:t>
            </a:r>
            <a:r>
              <a:rPr lang="en-US" b="1" dirty="0">
                <a:solidFill>
                  <a:schemeClr val="bg1"/>
                </a:solidFill>
              </a:rPr>
              <a:t> DNS traffic.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Python identifies suspicious queries using different detection factors.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Splunk provides log monitoring, dashboards and alerts.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Windows Notification gives an immediate alert to the user. 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system helps in identifying possible DNS tunneling activity and improves network security.</a:t>
            </a:r>
          </a:p>
          <a:p>
            <a:pPr>
              <a:lnSpc>
                <a:spcPct val="200000"/>
              </a:lnSpc>
              <a:buFont typeface=""/>
              <a:buChar char="•"/>
            </a:pPr>
            <a:r>
              <a:rPr lang="en-US" b="1" i="1" dirty="0">
                <a:solidFill>
                  <a:schemeClr val="bg1"/>
                </a:solidFill>
                <a:ea typeface="+mn-lt"/>
                <a:cs typeface="+mn-lt"/>
              </a:rPr>
              <a:t>“This project provides a simple and effective way to monitor DNS traffic and detect possible suspicious activity.”</a:t>
            </a:r>
            <a:endParaRPr lang="en-US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29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DNS TUNNLING DETECTION SYSTEM</vt:lpstr>
      <vt:lpstr>CONTENTS</vt:lpstr>
      <vt:lpstr>PowerPoint Presentation</vt:lpstr>
      <vt:lpstr> PROBLEM STATEMENT </vt:lpstr>
      <vt:lpstr>PROPOSED SOLUTION</vt:lpstr>
      <vt:lpstr>OBJECTIVES</vt:lpstr>
      <vt:lpstr>TECHNOLOGIES USED</vt:lpstr>
      <vt:lpstr>DETECTION LOGIC</vt:lpstr>
      <vt:lpstr>WIRESHARK ANALYSIS</vt:lpstr>
      <vt:lpstr>WIRESHARK ANALYSIS </vt:lpstr>
      <vt:lpstr>WIRESHARK ANALYSIS </vt:lpstr>
      <vt:lpstr>WIRESHARK ANALYSIS  </vt:lpstr>
      <vt:lpstr>WIRESHARK ANALYSIS  </vt:lpstr>
      <vt:lpstr>SPLUNK MONITORING</vt:lpstr>
      <vt:lpstr>SPLUNK MONITORING </vt:lpstr>
      <vt:lpstr>SPLUNK MONITORING </vt:lpstr>
      <vt:lpstr>SPLUNK MONITORING </vt:lpstr>
      <vt:lpstr>SPLUNK MONITORING </vt:lpstr>
      <vt:lpstr>LIVE DEMO</vt:lpstr>
      <vt:lpstr>LIVE DEMO</vt:lpstr>
      <vt:lpstr>LIVE DEMO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639</cp:revision>
  <dcterms:created xsi:type="dcterms:W3CDTF">2026-09-14T15:54:09Z</dcterms:created>
  <dcterms:modified xsi:type="dcterms:W3CDTF">2026-09-15T05:24:54Z</dcterms:modified>
</cp:coreProperties>
</file>